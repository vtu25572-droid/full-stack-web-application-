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02-0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</a:t>
            </a:r>
            <a:r>
              <a:rPr lang="en-US" sz="3000" spc="-3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ABHIRAM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</a:t>
            </a:r>
            <a:r>
              <a:rPr lang="en-US"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25572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2133346"/>
            <a:ext cx="1492567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platform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issues,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tasks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efficiently.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It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enables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submit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portals,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</a:t>
            </a:r>
            <a:endParaRPr sz="3200">
              <a:latin typeface="Calibri"/>
              <a:cs typeface="Calibri"/>
            </a:endParaRPr>
          </a:p>
          <a:p>
            <a:pPr marL="12700" marR="5080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967740" algn="l"/>
                <a:tab pos="2333625" algn="l"/>
                <a:tab pos="4318000" algn="l"/>
                <a:tab pos="5845175" algn="l"/>
                <a:tab pos="8050530" algn="l"/>
                <a:tab pos="8896350" algn="l"/>
                <a:tab pos="11248390" algn="l"/>
                <a:tab pos="12450445" algn="l"/>
                <a:tab pos="13100050" algn="l"/>
              </a:tabLst>
            </a:pPr>
            <a:r>
              <a:rPr sz="3200" spc="-25" dirty="0">
                <a:latin typeface="Calibri"/>
                <a:cs typeface="Calibri"/>
              </a:rPr>
              <a:t>	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automates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routing,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assignment,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prioritization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based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predefined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 marL="12700" marR="825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1617345" algn="l"/>
                <a:tab pos="2346960" algn="l"/>
                <a:tab pos="4354830" algn="l"/>
                <a:tab pos="6137910" algn="l"/>
                <a:tab pos="7457440" algn="l"/>
                <a:tab pos="8782050" algn="l"/>
                <a:tab pos="9556115" algn="l"/>
                <a:tab pos="11960225" algn="l"/>
                <a:tab pos="12846685" algn="l"/>
                <a:tab pos="13868400" algn="l"/>
              </a:tabLst>
            </a:pPr>
            <a:r>
              <a:rPr sz="3200" spc="-10" dirty="0">
                <a:latin typeface="Calibri"/>
                <a:cs typeface="Calibri"/>
              </a:rPr>
              <a:t>	Agents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collaborate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internally,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update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communicate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with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users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within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platform.</a:t>
            </a:r>
            <a:endParaRPr sz="3200">
              <a:latin typeface="Calibri"/>
              <a:cs typeface="Calibri"/>
            </a:endParaRPr>
          </a:p>
          <a:p>
            <a:pPr marL="12700" marR="698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centralized</a:t>
            </a:r>
            <a:r>
              <a:rPr sz="3200" spc="2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database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1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information,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communications,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attachments.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7011161"/>
            <a:ext cx="14928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  <a:tab pos="1015365" algn="l"/>
                <a:tab pos="2425065" algn="l"/>
                <a:tab pos="4104640" algn="l"/>
                <a:tab pos="5814695" algn="l"/>
                <a:tab pos="6704965" algn="l"/>
                <a:tab pos="8515350" algn="l"/>
                <a:tab pos="9128125" algn="l"/>
                <a:tab pos="10730230" algn="l"/>
                <a:tab pos="13234035" algn="l"/>
                <a:tab pos="14321155" algn="l"/>
              </a:tabLst>
            </a:pPr>
            <a:r>
              <a:rPr sz="3200" spc="-25" dirty="0">
                <a:latin typeface="Calibri"/>
                <a:cs typeface="Calibri"/>
              </a:rPr>
              <a:t>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provides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analytics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reporting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monitor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performance,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track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SLA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7498842"/>
            <a:ext cx="1492567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compliance,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trends.</a:t>
            </a:r>
            <a:endParaRPr sz="3200">
              <a:latin typeface="Calibri"/>
              <a:cs typeface="Calibri"/>
            </a:endParaRPr>
          </a:p>
          <a:p>
            <a:pPr marL="12700" marR="5080" indent="-444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streamlining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lifecycle,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resolution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improves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 </a:t>
            </a:r>
            <a:r>
              <a:rPr sz="3200" dirty="0">
                <a:latin typeface="Calibri"/>
                <a:cs typeface="Calibri"/>
              </a:rPr>
              <a:t>Overall,</a:t>
            </a:r>
            <a:r>
              <a:rPr sz="3200" spc="1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enhances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satisfaction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decision-</a:t>
            </a:r>
            <a:r>
              <a:rPr sz="3200" dirty="0">
                <a:latin typeface="Calibri"/>
                <a:cs typeface="Calibri"/>
              </a:rPr>
              <a:t>making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spc="-10" dirty="0">
                <a:latin typeface="Calibri"/>
                <a:cs typeface="Calibri"/>
              </a:rPr>
              <a:t>organizations.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45666"/>
            <a:ext cx="14926944" cy="533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	Organizations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volume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like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often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leads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delays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Lack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centralized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causes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overlooked..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Inefficient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increase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workload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staff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SLA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compliance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priority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difficult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enforce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manually.</a:t>
            </a:r>
            <a:endParaRPr sz="3200">
              <a:latin typeface="Calibri"/>
              <a:cs typeface="Calibri"/>
            </a:endParaRPr>
          </a:p>
          <a:p>
            <a:pPr marL="12700" marR="5080" indent="-5080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	Limited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hard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recurring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performance gaps.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Hence,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satisfaction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drops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slow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com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ts val="3460"/>
              </a:lnSpc>
              <a:spcBef>
                <a:spcPts val="395"/>
              </a:spcBef>
              <a:buSzPct val="96875"/>
              <a:buFont typeface="Wingdings"/>
              <a:buChar char=""/>
              <a:tabLst>
                <a:tab pos="334010" algn="l"/>
                <a:tab pos="1134110" algn="l"/>
                <a:tab pos="2886710" algn="l"/>
                <a:tab pos="4217670" algn="l"/>
                <a:tab pos="5179060" algn="l"/>
                <a:tab pos="7366000" algn="l"/>
                <a:tab pos="9102090" algn="l"/>
                <a:tab pos="10492105" algn="l"/>
                <a:tab pos="11655425" algn="l"/>
                <a:tab pos="12120245" algn="l"/>
                <a:tab pos="13811885" algn="l"/>
                <a:tab pos="14455140" algn="l"/>
              </a:tabLst>
            </a:pPr>
            <a:r>
              <a:rPr sz="3200" spc="-25" dirty="0">
                <a:latin typeface="Calibri"/>
                <a:cs typeface="Calibri"/>
              </a:rPr>
              <a:t>	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proposed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aims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automated,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centralized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ticketing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streamline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full </a:t>
            </a:r>
            <a:r>
              <a:rPr sz="2800" dirty="0">
                <a:latin typeface="Calibri"/>
                <a:cs typeface="Calibri"/>
              </a:rPr>
              <a:t>lifecycle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closure.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288794" y="1645666"/>
            <a:ext cx="14170406" cy="9074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1. Automate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administrators to create, update, and delete events.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 details in a centralized database.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2. Enable Online Ticket 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book tickets through a simple web interface.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ticket availability updates.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Prevent Overbooking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ticket validation logic.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deduct tickets after successful booking.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4. Ensure Secure User Access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login and role-based access control.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admin operations to authorized users.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5. Maintain Booking Records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booking details systematically.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user name, tickets booked, and total amount.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6. Generate Reports &amp; Analytics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tickets sold.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revenue generation.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event performance.</a:t>
            </a:r>
          </a:p>
          <a:p>
            <a:endParaRPr lang="en-US" sz="2800" dirty="0"/>
          </a:p>
          <a:p>
            <a:pPr marL="3810">
              <a:lnSpc>
                <a:spcPct val="100000"/>
              </a:lnSpc>
              <a:spcBef>
                <a:spcPts val="100"/>
              </a:spcBef>
              <a:buSzPct val="95312"/>
              <a:tabLst>
                <a:tab pos="33401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88794" y="1645666"/>
            <a:ext cx="1492440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To</a:t>
            </a:r>
            <a:r>
              <a:rPr sz="3200" spc="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centralized,</a:t>
            </a:r>
            <a:r>
              <a:rPr sz="3200" b="1" spc="1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automated,</a:t>
            </a:r>
            <a:r>
              <a:rPr sz="3200" b="1" spc="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efficient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</a:t>
            </a:r>
            <a:r>
              <a:rPr sz="3200" b="1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managing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creation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closure,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reporting.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insights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improvement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agent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communication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logs,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audit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trails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ntelligent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agents/teams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portal,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phone,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mobile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app.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Capture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description,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priority,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Automation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effort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Scalable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CRM/ERP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026" name="Picture 2" descr="Spring Boot Architecture: Controller, Service, Repository, Database &amp;  Architecture Flow | by Ramesh Fadatare | Medium">
            <a:extLst>
              <a:ext uri="{FF2B5EF4-FFF2-40B4-BE49-F238E27FC236}">
                <a16:creationId xmlns:a16="http://schemas.microsoft.com/office/drawing/2014/main" id="{CC8A269C-8CFD-2A3E-CD3F-B65CEEE6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488" y="1714500"/>
            <a:ext cx="14531112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2050" name="Picture 2" descr="Flowchart of ticket lifecycle">
            <a:extLst>
              <a:ext uri="{FF2B5EF4-FFF2-40B4-BE49-F238E27FC236}">
                <a16:creationId xmlns:a16="http://schemas.microsoft.com/office/drawing/2014/main" id="{7E55B3A5-D18E-F3A1-2A74-69DFF0E84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13" y="1264157"/>
            <a:ext cx="11736387" cy="852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2288794" y="1645666"/>
            <a:ext cx="15020798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b="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design).</a:t>
            </a:r>
          </a:p>
          <a:p>
            <a:pPr marL="12700" marR="5080" indent="-5080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Backend: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processing,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12700" marR="46355" algn="just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tickets,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communications,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IDE,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marL="12700" marR="2292350" algn="just">
              <a:lnSpc>
                <a:spcPct val="10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OS,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(Chrome/Edge/Firefox),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88794" y="1645666"/>
            <a:ext cx="14246606" cy="8574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Module 1: User Management Module</a:t>
            </a:r>
          </a:p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Management Module is responsible for handling user registration, authentication, and role-based access control (Admin/User). It ensures that only authorized users can perform specific actions within the system.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🎟️ Module 2: Ticket Management &amp; Workflow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Ticket Management &amp; Workflow Module is responsible for handling the complete ticket booking lifecycle. It manages ticket availability, validates booking requests, processes workflow steps, and updates the system dynamically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Resolution &amp; Knowledge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&amp; Knowledge Module ensures that booking issues are handled efficiently and helps reduce repeated errors by providing proper feedback, validation, and user guidance. It improves system reliability and user experience.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Module 4: Reporting &amp; Analytics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Reporting &amp; Analytics Module is responsible for measuring system performance and generating insights related to events, ticket sales, and revenue. It helps administrators monitor booking trends and evaluate event success.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lang="en-US" sz="2800" b="1" dirty="0"/>
          </a:p>
          <a:p>
            <a:pPr marL="8255">
              <a:spcBef>
                <a:spcPts val="100"/>
              </a:spcBef>
              <a:buSzPct val="96875"/>
              <a:tabLst>
                <a:tab pos="334010" algn="l"/>
              </a:tabLst>
            </a:pPr>
            <a:endParaRPr lang="en-US" sz="3200" b="1" dirty="0"/>
          </a:p>
          <a:p>
            <a:pPr marL="334010" indent="-32575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7394" y="7742681"/>
            <a:ext cx="142024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088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EFC316-8E47-9AA6-6696-6C04FEF7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348" y="1905635"/>
            <a:ext cx="11106150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742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6630" marR="5080">
              <a:lnSpc>
                <a:spcPct val="100000"/>
              </a:lnSpc>
              <a:spcBef>
                <a:spcPts val="85"/>
              </a:spcBef>
              <a:tabLst>
                <a:tab pos="1198435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booking.Each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seats,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duration,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809283-87C6-357D-BE19-796B339A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562101"/>
            <a:ext cx="9067799" cy="5448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89890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dashroad.and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defauls</a:t>
            </a:r>
            <a:r>
              <a:rPr sz="3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z="3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2664A3-31EB-DD9E-A77D-54E659E8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9" y="1638300"/>
            <a:ext cx="12316651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12594" y="8047481"/>
            <a:ext cx="1356741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11530" algn="l"/>
              </a:tabLst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page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portal,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summary,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45A516-E943-E174-F118-7BC42B3C0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324100"/>
            <a:ext cx="10058995" cy="5649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03194" y="1964182"/>
            <a:ext cx="12969240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(email,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web)..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32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spcBef>
                <a:spcPts val="8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03194" y="5866257"/>
            <a:ext cx="10550525" cy="2462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3800"/>
              </a:lnSpc>
              <a:spcBef>
                <a:spcPts val="110"/>
              </a:spcBef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implementation.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1258</Words>
  <Application>Microsoft Office PowerPoint</Application>
  <PresentationFormat>Custom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Tahoma</vt:lpstr>
      <vt:lpstr>Times New Roman</vt:lpstr>
      <vt:lpstr>Wingdings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abhiramchowdary0722@gmail.com</cp:lastModifiedBy>
  <cp:revision>12</cp:revision>
  <dcterms:created xsi:type="dcterms:W3CDTF">2026-03-02T03:28:12Z</dcterms:created>
  <dcterms:modified xsi:type="dcterms:W3CDTF">2026-03-05T03:31:47Z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