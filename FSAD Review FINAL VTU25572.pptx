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71" r:id="rId3"/>
    <p:sldId id="272" r:id="rId4"/>
    <p:sldId id="259" r:id="rId5"/>
    <p:sldId id="273" r:id="rId6"/>
    <p:sldId id="274" r:id="rId7"/>
    <p:sldId id="275" r:id="rId8"/>
    <p:sldId id="276" r:id="rId9"/>
    <p:sldId id="277" r:id="rId10"/>
    <p:sldId id="266" r:id="rId11"/>
    <p:sldId id="279" r:id="rId12"/>
    <p:sldId id="267" r:id="rId13"/>
    <p:sldId id="268" r:id="rId14"/>
    <p:sldId id="278" r:id="rId15"/>
    <p:sldId id="265" r:id="rId16"/>
  </p:sldIdLst>
  <p:sldSz cx="18288000" cy="10287000"/>
  <p:notesSz cx="6858000" cy="9144000"/>
  <p:embeddedFontLst>
    <p:embeddedFont>
      <p:font typeface="Bookman Old Style" panose="02050604050505020204" pitchFamily="18" charset="0"/>
      <p:regular r:id="rId17"/>
      <p:bold r:id="rId18"/>
      <p:italic r:id="rId19"/>
      <p:boldItalic r:id="rId20"/>
    </p:embeddedFont>
    <p:embeddedFont>
      <p:font typeface="Cambria" panose="02040503050406030204" pitchFamily="18" charset="0"/>
      <p:regular r:id="rId21"/>
      <p:bold r:id="rId22"/>
      <p:italic r:id="rId23"/>
      <p:boldItalic r:id="rId24"/>
    </p:embeddedFont>
    <p:embeddedFont>
      <p:font typeface="Gotham" panose="020B0604020202020204" charset="0"/>
      <p:regular r:id="rId25"/>
    </p:embeddedFont>
    <p:embeddedFont>
      <p:font typeface="Gotham Bold Italics" panose="020B0604020202020204" charset="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958F3"/>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553" autoAdjust="0"/>
    <p:restoredTop sz="94622" autoAdjust="0"/>
  </p:normalViewPr>
  <p:slideViewPr>
    <p:cSldViewPr>
      <p:cViewPr varScale="1">
        <p:scale>
          <a:sx n="45" d="100"/>
          <a:sy n="45" d="100"/>
        </p:scale>
        <p:origin x="696" y="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4.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5.jpeg"/></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PROJECT REVIEW : MILESTONE PROJECT – 2</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06-05-2026</a:t>
            </a:r>
          </a:p>
        </p:txBody>
      </p:sp>
      <p:sp>
        <p:nvSpPr>
          <p:cNvPr id="13" name="TextBox 12">
            <a:extLst>
              <a:ext uri="{FF2B5EF4-FFF2-40B4-BE49-F238E27FC236}">
                <a16:creationId xmlns:a16="http://schemas.microsoft.com/office/drawing/2014/main" id="{7FFE0DA2-4723-7C13-5FD7-FC99B0394DDD}"/>
              </a:ext>
            </a:extLst>
          </p:cNvPr>
          <p:cNvSpPr txBox="1"/>
          <p:nvPr/>
        </p:nvSpPr>
        <p:spPr>
          <a:xfrm>
            <a:off x="1692835" y="5854393"/>
            <a:ext cx="15784162" cy="600164"/>
          </a:xfrm>
          <a:prstGeom prst="rect">
            <a:avLst/>
          </a:prstGeom>
          <a:noFill/>
        </p:spPr>
        <p:txBody>
          <a:bodyPr wrap="square" rtlCol="0">
            <a:spAutoFit/>
          </a:bodyPr>
          <a:lstStyle/>
          <a:p>
            <a:pPr algn="ctr"/>
            <a:r>
              <a:rPr lang="en-US" sz="3300" b="1" dirty="0">
                <a:solidFill>
                  <a:srgbClr val="00B0F0"/>
                </a:solidFill>
                <a:latin typeface="Times New Roman" panose="02020603050405020304" pitchFamily="18" charset="0"/>
                <a:cs typeface="Times New Roman" panose="02020603050405020304" pitchFamily="18" charset="0"/>
              </a:rPr>
              <a:t>React JS based Web application for Ticket Booking</a:t>
            </a:r>
            <a:endParaRPr lang="en-IN" sz="3300" b="1" dirty="0">
              <a:solidFill>
                <a:srgbClr val="00B0F0"/>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893870" y="7800539"/>
            <a:ext cx="9067800" cy="1391663"/>
          </a:xfrm>
          <a:prstGeom prst="rect">
            <a:avLst/>
          </a:prstGeom>
          <a:noFill/>
        </p:spPr>
        <p:txBody>
          <a:bodyPr wrap="square" rtlCol="0">
            <a:spAutoFit/>
          </a:bodyPr>
          <a:lstStyle/>
          <a:p>
            <a:pPr>
              <a:lnSpc>
                <a:spcPct val="150000"/>
              </a:lnSpc>
            </a:pPr>
            <a:r>
              <a:rPr lang="en-US" sz="3000" b="1" dirty="0">
                <a:latin typeface="Times New Roman" panose="02020603050405020304" pitchFamily="18" charset="0"/>
                <a:ea typeface="Cambria" panose="02040503050406030204" pitchFamily="18" charset="0"/>
                <a:cs typeface="Times New Roman" panose="02020603050405020304" pitchFamily="18" charset="0"/>
              </a:rPr>
              <a:t>Presented By:</a:t>
            </a:r>
          </a:p>
          <a:p>
            <a:pPr>
              <a:lnSpc>
                <a:spcPct val="150000"/>
              </a:lnSpc>
            </a:pPr>
            <a:r>
              <a:rPr lang="en-US" sz="3000" dirty="0">
                <a:latin typeface="Cambria" panose="02040503050406030204" pitchFamily="18" charset="0"/>
                <a:ea typeface="Cambria" panose="02040503050406030204" pitchFamily="18" charset="0"/>
                <a:cs typeface="Times New Roman" panose="02020603050405020304" pitchFamily="18" charset="0"/>
              </a:rPr>
              <a:t>KOLLA ABHIRAM – VTU25572 – 23UECS0970</a:t>
            </a:r>
            <a:endParaRPr lang="en-IN" sz="3000" dirty="0">
              <a:latin typeface="Cambria" panose="02040503050406030204" pitchFamily="18" charset="0"/>
              <a:ea typeface="Cambria" panose="020405030504060302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10945035" y="7818586"/>
            <a:ext cx="6914603"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US" sz="3000" dirty="0">
                <a:latin typeface="Cambria" panose="02040503050406030204" pitchFamily="18" charset="0"/>
                <a:ea typeface="Cambria" panose="02040503050406030204" pitchFamily="18" charset="0"/>
              </a:rPr>
              <a:t>Dr. S . HEMAMALINI – M.E., Ph.D.,</a:t>
            </a:r>
            <a:endParaRPr lang="en-IN" sz="30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A7AA51DE-E8D7-A1B4-BC0D-B25C8A0C467A}"/>
              </a:ext>
            </a:extLst>
          </p:cNvPr>
          <p:cNvSpPr txBox="1"/>
          <p:nvPr/>
        </p:nvSpPr>
        <p:spPr>
          <a:xfrm>
            <a:off x="2209800" y="6972300"/>
            <a:ext cx="14743170" cy="523220"/>
          </a:xfrm>
          <a:prstGeom prst="rect">
            <a:avLst/>
          </a:prstGeom>
          <a:noFill/>
        </p:spPr>
        <p:txBody>
          <a:bodyPr wrap="square" rtlCol="0">
            <a:spAutoFit/>
          </a:bodyPr>
          <a:lstStyle/>
          <a:p>
            <a:r>
              <a:rPr lang="en-US" sz="2800" b="1" dirty="0">
                <a:latin typeface="Times New Roman" panose="02020603050405020304" pitchFamily="18" charset="0"/>
                <a:ea typeface="Cambria" panose="02040503050406030204" pitchFamily="18" charset="0"/>
                <a:cs typeface="Times New Roman" panose="02020603050405020304" pitchFamily="18" charset="0"/>
              </a:rPr>
              <a:t>SDG: 9 –  Sustainable Development Goal</a:t>
            </a:r>
            <a:endParaRPr lang="en-IN" sz="2800" b="1" dirty="0">
              <a:latin typeface="Times New Roman" panose="02020603050405020304" pitchFamily="18" charset="0"/>
              <a:ea typeface="Cambria" panose="020405030504060302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37E9E58-77B6-079D-9D0D-E380CADAD23D}"/>
              </a:ext>
            </a:extLst>
          </p:cNvPr>
          <p:cNvSpPr txBox="1"/>
          <p:nvPr/>
        </p:nvSpPr>
        <p:spPr>
          <a:xfrm>
            <a:off x="1704035" y="1304519"/>
            <a:ext cx="15082325" cy="13018949"/>
          </a:xfrm>
          <a:prstGeom prst="rect">
            <a:avLst/>
          </a:prstGeom>
          <a:noFill/>
        </p:spPr>
        <p:txBody>
          <a:bodyPr wrap="square" rtlCol="0">
            <a:spAutoFit/>
          </a:bodyPr>
          <a:lstStyle/>
          <a:p>
            <a:endParaRPr lang="en-US" sz="2800" b="1" dirty="0">
              <a:solidFill>
                <a:srgbClr val="0033CC"/>
              </a:solidFill>
            </a:endParaRPr>
          </a:p>
          <a:p>
            <a:endParaRPr lang="en-US" sz="2800" b="1" dirty="0">
              <a:solidFill>
                <a:srgbClr val="0033CC"/>
              </a:solidFill>
            </a:endParaRPr>
          </a:p>
          <a:p>
            <a:r>
              <a:rPr lang="en-US" sz="2800" b="1" dirty="0">
                <a:solidFill>
                  <a:srgbClr val="0033CC"/>
                </a:solidFill>
              </a:rPr>
              <a:t>Background of the problem:</a:t>
            </a:r>
          </a:p>
          <a:p>
            <a:endParaRPr lang="en-US" sz="2800" dirty="0"/>
          </a:p>
          <a:p>
            <a:r>
              <a:rPr lang="en-US" sz="2800" dirty="0"/>
              <a:t>Manual ticket booking systems lack automation and real-time seat management.</a:t>
            </a:r>
            <a:endParaRPr lang="en-IN" sz="2800" dirty="0"/>
          </a:p>
          <a:p>
            <a:endParaRPr lang="en-US" sz="2800" dirty="0"/>
          </a:p>
          <a:p>
            <a:r>
              <a:rPr lang="en-US" sz="2800" b="1" dirty="0">
                <a:solidFill>
                  <a:srgbClr val="0033CC"/>
                </a:solidFill>
              </a:rPr>
              <a:t>Why this project is important:</a:t>
            </a:r>
          </a:p>
          <a:p>
            <a:endParaRPr lang="en-US" sz="2800" dirty="0"/>
          </a:p>
          <a:p>
            <a:r>
              <a:rPr lang="en-US" sz="2800" dirty="0"/>
              <a:t>It simplifies ticket booking and provides instant confirmation with reduced errors.</a:t>
            </a:r>
          </a:p>
          <a:p>
            <a:endParaRPr lang="en-US" sz="2800" b="1" dirty="0"/>
          </a:p>
          <a:p>
            <a:r>
              <a:rPr lang="en-US" sz="2800" b="1" dirty="0">
                <a:solidFill>
                  <a:srgbClr val="0033CC"/>
                </a:solidFill>
              </a:rPr>
              <a:t>Real-world relevance:</a:t>
            </a:r>
          </a:p>
          <a:p>
            <a:endParaRPr lang="en-US" sz="2800" dirty="0"/>
          </a:p>
          <a:p>
            <a:r>
              <a:rPr lang="en-US" sz="2800" dirty="0"/>
              <a:t>Useful for managing departmental events like technical fests, seminars, and workshops.</a:t>
            </a:r>
          </a:p>
          <a:p>
            <a:endParaRPr lang="en-US" sz="2800" dirty="0"/>
          </a:p>
          <a:p>
            <a:r>
              <a:rPr lang="en-US" sz="2800" b="1" dirty="0">
                <a:solidFill>
                  <a:srgbClr val="0033CC"/>
                </a:solidFill>
              </a:rPr>
              <a:t>Brief overview of the system:</a:t>
            </a:r>
          </a:p>
          <a:p>
            <a:endParaRPr lang="en-US" sz="2800" dirty="0"/>
          </a:p>
          <a:p>
            <a:r>
              <a:rPr lang="en-US" sz="2800" dirty="0"/>
              <a:t>Useful for managing departmental events like technical fests, seminars, and workshops</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BDE2941C-1504-53F9-99B2-48002CA9A345}"/>
              </a:ext>
            </a:extLst>
          </p:cNvPr>
          <p:cNvSpPr txBox="1"/>
          <p:nvPr/>
        </p:nvSpPr>
        <p:spPr>
          <a:xfrm>
            <a:off x="2209800" y="1638300"/>
            <a:ext cx="15082325" cy="10341293"/>
          </a:xfrm>
          <a:prstGeom prst="rect">
            <a:avLst/>
          </a:prstGeom>
          <a:noFill/>
        </p:spPr>
        <p:txBody>
          <a:bodyPr wrap="square" rtlCol="0">
            <a:spAutoFit/>
          </a:bodyPr>
          <a:lstStyle/>
          <a:p>
            <a:endParaRPr lang="en-US" sz="2800" dirty="0">
              <a:latin typeface="+mj-lt"/>
            </a:endParaRPr>
          </a:p>
          <a:p>
            <a:endParaRPr lang="en-US" sz="2800" dirty="0">
              <a:latin typeface="+mj-lt"/>
            </a:endParaRPr>
          </a:p>
          <a:p>
            <a:pPr algn="just"/>
            <a:r>
              <a:rPr lang="en-US" sz="2800" dirty="0">
                <a:latin typeface="+mj-lt"/>
              </a:rPr>
              <a:t>In many </a:t>
            </a:r>
            <a:r>
              <a:rPr lang="en-US" sz="2800" dirty="0">
                <a:latin typeface="+mj-lt"/>
                <a:cs typeface="Times New Roman" panose="02020603050405020304" pitchFamily="18" charset="0"/>
              </a:rPr>
              <a:t>educational institutions and organizations, ticket booking for internal events such as technical fests, seminars, and workshops is often handled manually or through basic systems that lack proper automation. This creates difficulties in managing participants, tracking ticket availability, and ensuring smooth registration. Manual processes can lead to overbooking, data errors, and delays in confirmation. Additionally, there is no centralized system to monitor bookings and generate reports efficiently. Therefore, there is a need for a secure, reliable, and fully automated ticket booking system that allows users to book tickets easily, provides real-time updates, and enables administrators to manage events effectively. Such a system improves accuracy, saves time, and enhances the overall event management experience.</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2" name="Rectangle 1">
            <a:extLst>
              <a:ext uri="{FF2B5EF4-FFF2-40B4-BE49-F238E27FC236}">
                <a16:creationId xmlns:a16="http://schemas.microsoft.com/office/drawing/2014/main" id="{349BAA85-2B3B-96B2-8BD3-CF97C0CC17C5}"/>
              </a:ext>
            </a:extLst>
          </p:cNvPr>
          <p:cNvSpPr>
            <a:spLocks noChangeArrowheads="1"/>
          </p:cNvSpPr>
          <p:nvPr/>
        </p:nvSpPr>
        <p:spPr bwMode="auto">
          <a:xfrm>
            <a:off x="2001253" y="3695032"/>
            <a:ext cx="16070179"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571500" indent="-571500">
              <a:buFont typeface="Wingdings" panose="05000000000000000000" pitchFamily="2" charset="2"/>
              <a:buChar char="Ø"/>
            </a:pPr>
            <a:r>
              <a:rPr lang="en-US" sz="3000" dirty="0">
                <a:latin typeface="+mj-lt"/>
                <a:cs typeface="Times New Roman" panose="02020603050405020304" pitchFamily="18" charset="0"/>
              </a:rPr>
              <a:t> To Design and develop a React JS-based web application for efficient event ticket booking.</a:t>
            </a:r>
          </a:p>
          <a:p>
            <a:endParaRPr lang="en-US" sz="3000" dirty="0">
              <a:latin typeface="+mj-lt"/>
              <a:cs typeface="Times New Roman" panose="02020603050405020304" pitchFamily="18" charset="0"/>
            </a:endParaRPr>
          </a:p>
          <a:p>
            <a:pPr marL="571500" indent="-571500">
              <a:buFont typeface="Wingdings" panose="05000000000000000000" pitchFamily="2" charset="2"/>
              <a:buChar char="Ø"/>
            </a:pPr>
            <a:r>
              <a:rPr lang="en-US" sz="3000" dirty="0">
                <a:latin typeface="+mj-lt"/>
                <a:cs typeface="Times New Roman" panose="02020603050405020304" pitchFamily="18" charset="0"/>
              </a:rPr>
              <a:t>To provide real-time ticket availability and instant booking confirmation.</a:t>
            </a:r>
          </a:p>
          <a:p>
            <a:pPr marL="571500" indent="-571500">
              <a:buFont typeface="Wingdings" panose="05000000000000000000" pitchFamily="2" charset="2"/>
              <a:buChar char="Ø"/>
            </a:pPr>
            <a:endParaRPr lang="en-US" sz="3000" dirty="0">
              <a:latin typeface="+mj-lt"/>
              <a:cs typeface="Times New Roman" panose="02020603050405020304" pitchFamily="18" charset="0"/>
            </a:endParaRPr>
          </a:p>
          <a:p>
            <a:pPr marL="571500" indent="-571500">
              <a:buFont typeface="Wingdings" panose="05000000000000000000" pitchFamily="2" charset="2"/>
              <a:buChar char="Ø"/>
            </a:pPr>
            <a:r>
              <a:rPr lang="en-US" sz="3000" dirty="0">
                <a:latin typeface="+mj-lt"/>
                <a:cs typeface="Times New Roman" panose="02020603050405020304" pitchFamily="18" charset="0"/>
              </a:rPr>
              <a:t>To develop an admin panel for managing events, bookings, and users.</a:t>
            </a:r>
          </a:p>
          <a:p>
            <a:endParaRPr lang="en-US" sz="3000" dirty="0">
              <a:latin typeface="+mj-lt"/>
              <a:cs typeface="Times New Roman" panose="02020603050405020304" pitchFamily="18" charset="0"/>
            </a:endParaRPr>
          </a:p>
          <a:p>
            <a:pPr marL="571500" indent="-571500">
              <a:buFont typeface="Wingdings" panose="05000000000000000000" pitchFamily="2" charset="2"/>
              <a:buChar char="Ø"/>
            </a:pPr>
            <a:r>
              <a:rPr lang="en-US" sz="3000" dirty="0">
                <a:latin typeface="+mj-lt"/>
                <a:cs typeface="Times New Roman" panose="02020603050405020304" pitchFamily="18" charset="0"/>
              </a:rPr>
              <a:t>To develop an admin panel for managing events, bookings, and users.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a:extLst>
              <a:ext uri="{FF2B5EF4-FFF2-40B4-BE49-F238E27FC236}">
                <a16:creationId xmlns:a16="http://schemas.microsoft.com/office/drawing/2014/main" id="{D5D1FD99-C9A7-927E-AD67-E70F11DBAAA2}"/>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6" name="TextBox 45">
            <a:extLst>
              <a:ext uri="{FF2B5EF4-FFF2-40B4-BE49-F238E27FC236}">
                <a16:creationId xmlns:a16="http://schemas.microsoft.com/office/drawing/2014/main" id="{E7218D14-8F44-8040-8BFD-49A59591F527}"/>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E8F19716-1653-9AE0-442E-B3829A585B46}"/>
              </a:ext>
            </a:extLst>
          </p:cNvPr>
          <p:cNvSpPr txBox="1"/>
          <p:nvPr/>
        </p:nvSpPr>
        <p:spPr>
          <a:xfrm>
            <a:off x="1570676" y="1501974"/>
            <a:ext cx="16292949" cy="11726287"/>
          </a:xfrm>
          <a:prstGeom prst="rect">
            <a:avLst/>
          </a:prstGeom>
          <a:noFill/>
        </p:spPr>
        <p:txBody>
          <a:bodyPr wrap="square" rtlCol="0">
            <a:spAutoFit/>
          </a:bodyPr>
          <a:lstStyle/>
          <a:p>
            <a:pPr lvl="1"/>
            <a:r>
              <a:rPr lang="en-US" sz="2800" dirty="0"/>
              <a:t>1.The proposed system is a React JS-based web application for managing event ticket booking in a single platform.</a:t>
            </a:r>
          </a:p>
          <a:p>
            <a:pPr lvl="1"/>
            <a:endParaRPr lang="en-US" sz="2800" dirty="0"/>
          </a:p>
          <a:p>
            <a:pPr marL="457200" indent="-457200">
              <a:buFontTx/>
              <a:buChar char="-"/>
            </a:pPr>
            <a:r>
              <a:rPr lang="en-US" sz="2800" dirty="0"/>
              <a:t>2. It allows users to register, view events, and book tickets.</a:t>
            </a:r>
          </a:p>
          <a:p>
            <a:pPr marL="457200" indent="-457200">
              <a:buFontTx/>
              <a:buChar char="-"/>
            </a:pPr>
            <a:endParaRPr lang="en-US" sz="2800" dirty="0"/>
          </a:p>
          <a:p>
            <a:pPr marL="457200" indent="-457200">
              <a:buFontTx/>
              <a:buChar char="-"/>
            </a:pPr>
            <a:r>
              <a:rPr lang="en-US" sz="2800" dirty="0"/>
              <a:t>3. Admin can create and manage events.</a:t>
            </a:r>
          </a:p>
          <a:p>
            <a:pPr marL="457200" indent="-457200">
              <a:buFontTx/>
              <a:buChar char="-"/>
            </a:pPr>
            <a:endParaRPr lang="en-US" sz="2800" dirty="0"/>
          </a:p>
          <a:p>
            <a:pPr marL="457200" indent="-457200">
              <a:buFontTx/>
              <a:buChar char="-"/>
            </a:pPr>
            <a:r>
              <a:rPr lang="en-US" sz="2800" dirty="0"/>
              <a:t>4. It provides real-time ticket availability and instant booking confirmation.</a:t>
            </a:r>
          </a:p>
          <a:p>
            <a:pPr marL="457200" indent="-457200">
              <a:buFontTx/>
              <a:buChar char="-"/>
            </a:pPr>
            <a:endParaRPr lang="en-US" sz="2800" dirty="0"/>
          </a:p>
          <a:p>
            <a:pPr marL="457200" indent="-457200">
              <a:buFontTx/>
              <a:buChar char="-"/>
            </a:pPr>
            <a:r>
              <a:rPr lang="en-US" sz="2800" dirty="0"/>
              <a:t>5. The system stores booking details securely and generates reports.</a:t>
            </a:r>
          </a:p>
          <a:p>
            <a:pPr marL="457200" indent="-457200">
              <a:buFontTx/>
              <a:buChar char="-"/>
            </a:pPr>
            <a:endParaRPr lang="en-US" sz="2800" dirty="0"/>
          </a:p>
          <a:p>
            <a:pPr marL="457200" indent="-457200">
              <a:buFontTx/>
              <a:buChar char="-"/>
            </a:pPr>
            <a:r>
              <a:rPr lang="en-US" sz="2800" dirty="0"/>
              <a:t>6. It reduces manual work and saves time.</a:t>
            </a:r>
          </a:p>
          <a:p>
            <a:pPr marL="457200" indent="-457200">
              <a:buFontTx/>
              <a:buChar char="-"/>
            </a:pPr>
            <a:endParaRPr lang="en-US" sz="2800" dirty="0"/>
          </a:p>
          <a:p>
            <a:pPr marL="457200" indent="-457200">
              <a:buFontTx/>
              <a:buChar char="-"/>
            </a:pPr>
            <a:r>
              <a:rPr lang="en-US" sz="2800" dirty="0"/>
              <a:t>7. It avoids mistakes in Money calculation.</a:t>
            </a:r>
          </a:p>
          <a:p>
            <a:pPr marL="457200" indent="-457200">
              <a:buFontTx/>
              <a:buChar char="-"/>
            </a:pPr>
            <a:endParaRPr lang="en-US" sz="2800" dirty="0"/>
          </a:p>
          <a:p>
            <a:pPr marL="457200" indent="-457200">
              <a:buFontTx/>
              <a:buChar char="-"/>
            </a:pPr>
            <a:r>
              <a:rPr lang="en-US" sz="2800" dirty="0"/>
              <a:t>8. It is faster and more efficient than manual systems.</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1" name="Freeform 10">
            <a:extLst>
              <a:ext uri="{FF2B5EF4-FFF2-40B4-BE49-F238E27FC236}">
                <a16:creationId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2" name="TextBox 41">
            <a:extLst>
              <a:ext uri="{FF2B5EF4-FFF2-40B4-BE49-F238E27FC236}">
                <a16:creationId xmlns:a16="http://schemas.microsoft.com/office/drawing/2014/main" id="{A4B3B85F-0C7B-16B9-6D50-94A4DFD2D19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a:extLst>
              <a:ext uri="{FF2B5EF4-FFF2-40B4-BE49-F238E27FC236}">
                <a16:creationId xmlns:a16="http://schemas.microsoft.com/office/drawing/2014/main" id="{25F9D4B0-38FE-DBA4-164D-1745B68379A5}"/>
              </a:ext>
            </a:extLst>
          </p:cNvPr>
          <p:cNvSpPr txBox="1"/>
          <p:nvPr/>
        </p:nvSpPr>
        <p:spPr>
          <a:xfrm>
            <a:off x="2374972" y="2117811"/>
            <a:ext cx="15082325" cy="5262979"/>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4" name="Picture 33">
            <a:extLst>
              <a:ext uri="{FF2B5EF4-FFF2-40B4-BE49-F238E27FC236}">
                <a16:creationId xmlns:a16="http://schemas.microsoft.com/office/drawing/2014/main" id="{F748329B-CA33-CD43-C064-33406BC74E3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69896" y="1741461"/>
            <a:ext cx="14611350" cy="763507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7" name="TextBox 46">
            <a:extLst>
              <a:ext uri="{FF2B5EF4-FFF2-40B4-BE49-F238E27FC236}">
                <a16:creationId xmlns:a16="http://schemas.microsoft.com/office/drawing/2014/main"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id="{D04F3B99-A5D2-54DC-51CD-4E86A99D3EA2}"/>
              </a:ext>
            </a:extLst>
          </p:cNvPr>
          <p:cNvSpPr txBox="1"/>
          <p:nvPr/>
        </p:nvSpPr>
        <p:spPr>
          <a:xfrm>
            <a:off x="2209800" y="1638300"/>
            <a:ext cx="15082325" cy="4832092"/>
          </a:xfrm>
          <a:prstGeom prst="rect">
            <a:avLst/>
          </a:prstGeom>
          <a:noFill/>
        </p:spPr>
        <p:txBody>
          <a:bodyPr wrap="square" rtlCol="0">
            <a:spAutoFit/>
          </a:bodyPr>
          <a:lstStyle/>
          <a:p>
            <a:endParaRPr lang="en-US" sz="2800" dirty="0"/>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7" name="Picture 6">
            <a:extLst>
              <a:ext uri="{FF2B5EF4-FFF2-40B4-BE49-F238E27FC236}">
                <a16:creationId xmlns:a16="http://schemas.microsoft.com/office/drawing/2014/main" id="{A80D2735-027B-7DC4-9E59-67D99BD0A98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51952" y="1638300"/>
            <a:ext cx="14807347" cy="74295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7" name="TextBox 46">
            <a:extLst>
              <a:ext uri="{FF2B5EF4-FFF2-40B4-BE49-F238E27FC236}">
                <a16:creationId xmlns:a16="http://schemas.microsoft.com/office/drawing/2014/main" id="{E4ED097B-FECF-66E6-2A98-0F8B4D948FC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6E9F5F9-CCF8-6F05-4C01-034C88D7529E}"/>
              </a:ext>
            </a:extLst>
          </p:cNvPr>
          <p:cNvSpPr txBox="1"/>
          <p:nvPr/>
        </p:nvSpPr>
        <p:spPr>
          <a:xfrm>
            <a:off x="2209800" y="1638300"/>
            <a:ext cx="15082325" cy="14311610"/>
          </a:xfrm>
          <a:prstGeom prst="rect">
            <a:avLst/>
          </a:prstGeom>
          <a:noFill/>
        </p:spPr>
        <p:txBody>
          <a:bodyPr wrap="square" rtlCol="0">
            <a:spAutoFit/>
          </a:bodyPr>
          <a:lstStyle/>
          <a:p>
            <a:r>
              <a:rPr lang="en-US" sz="2800" dirty="0">
                <a:solidFill>
                  <a:srgbClr val="0033CC"/>
                </a:solidFill>
              </a:rPr>
              <a:t>Frontend:</a:t>
            </a:r>
          </a:p>
          <a:p>
            <a:endParaRPr lang="en-US" sz="2800" dirty="0">
              <a:solidFill>
                <a:srgbClr val="0033CC"/>
              </a:solidFill>
            </a:endParaRPr>
          </a:p>
          <a:p>
            <a:r>
              <a:rPr lang="en-US" sz="2800" dirty="0"/>
              <a:t>1.HTML5</a:t>
            </a:r>
          </a:p>
          <a:p>
            <a:r>
              <a:rPr lang="en-US" sz="2800" dirty="0"/>
              <a:t>2.CSS3</a:t>
            </a:r>
          </a:p>
          <a:p>
            <a:r>
              <a:rPr lang="en-US" sz="2800" dirty="0"/>
              <a:t>3.Javascript</a:t>
            </a:r>
          </a:p>
          <a:p>
            <a:r>
              <a:rPr lang="en-US" sz="2800" dirty="0"/>
              <a:t>4.React JS</a:t>
            </a:r>
          </a:p>
          <a:p>
            <a:endParaRPr lang="en-US" sz="2800" dirty="0"/>
          </a:p>
          <a:p>
            <a:r>
              <a:rPr lang="en-US" sz="2800" dirty="0">
                <a:solidFill>
                  <a:srgbClr val="0033CC"/>
                </a:solidFill>
              </a:rPr>
              <a:t>Backend:</a:t>
            </a:r>
          </a:p>
          <a:p>
            <a:endParaRPr lang="en-US" sz="2800" dirty="0">
              <a:solidFill>
                <a:srgbClr val="0033CC"/>
              </a:solidFill>
            </a:endParaRPr>
          </a:p>
          <a:p>
            <a:r>
              <a:rPr lang="en-US" sz="2800" dirty="0"/>
              <a:t>1.Node </a:t>
            </a:r>
            <a:r>
              <a:rPr lang="en-US" sz="2800" dirty="0" err="1"/>
              <a:t>Js</a:t>
            </a:r>
            <a:endParaRPr lang="en-US" sz="2800" dirty="0"/>
          </a:p>
          <a:p>
            <a:endParaRPr lang="en-US" sz="2800" dirty="0"/>
          </a:p>
          <a:p>
            <a:r>
              <a:rPr lang="en-US" sz="2800" dirty="0">
                <a:solidFill>
                  <a:srgbClr val="0033CC"/>
                </a:solidFill>
              </a:rPr>
              <a:t> Data Base / Tools:</a:t>
            </a:r>
          </a:p>
          <a:p>
            <a:endParaRPr lang="en-US" sz="2800" dirty="0"/>
          </a:p>
          <a:p>
            <a:r>
              <a:rPr lang="en-US" sz="2800" dirty="0"/>
              <a:t>1.Firebase</a:t>
            </a:r>
          </a:p>
          <a:p>
            <a:endParaRPr lang="en-US" sz="2800" dirty="0"/>
          </a:p>
          <a:p>
            <a:r>
              <a:rPr lang="en-US" sz="2800" dirty="0">
                <a:solidFill>
                  <a:srgbClr val="0033CC"/>
                </a:solidFill>
              </a:rPr>
              <a:t>Software Requirements</a:t>
            </a:r>
            <a:r>
              <a:rPr lang="en-US" sz="2800" dirty="0"/>
              <a:t>:</a:t>
            </a:r>
          </a:p>
          <a:p>
            <a:endParaRPr lang="en-US" sz="2800" dirty="0"/>
          </a:p>
          <a:p>
            <a:r>
              <a:rPr lang="en-US" sz="2800" dirty="0"/>
              <a:t>1.Windows / Mac </a:t>
            </a:r>
          </a:p>
          <a:p>
            <a:r>
              <a:rPr lang="en-US" sz="2800" dirty="0"/>
              <a:t>2. Web Browser</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A1BCE7C-890E-A01E-691E-1D3D07CF6333}"/>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304C197-EAC7-7A26-FAED-ED7302DBEC6E}"/>
              </a:ext>
            </a:extLst>
          </p:cNvPr>
          <p:cNvSpPr txBox="1"/>
          <p:nvPr/>
        </p:nvSpPr>
        <p:spPr>
          <a:xfrm>
            <a:off x="2209800" y="1638300"/>
            <a:ext cx="15082325" cy="7417415"/>
          </a:xfrm>
          <a:prstGeom prst="rect">
            <a:avLst/>
          </a:prstGeom>
          <a:noFill/>
        </p:spPr>
        <p:txBody>
          <a:bodyPr wrap="square" rtlCol="0">
            <a:spAutoFit/>
          </a:bodyPr>
          <a:lstStyle/>
          <a:p>
            <a:endParaRPr lang="en-IN" sz="2800" b="1" dirty="0"/>
          </a:p>
          <a:p>
            <a:r>
              <a:rPr lang="en-IN" sz="2800" b="1" dirty="0"/>
              <a:t>Module 1: User Management</a:t>
            </a:r>
          </a:p>
          <a:p>
            <a:r>
              <a:rPr lang="en-US" sz="2800" dirty="0"/>
              <a:t>Handles user registration, login, and profile management with secure authentication.</a:t>
            </a:r>
            <a:endParaRPr lang="en-IN" sz="2800" dirty="0"/>
          </a:p>
          <a:p>
            <a:endParaRPr lang="en-IN" sz="2800" dirty="0"/>
          </a:p>
          <a:p>
            <a:r>
              <a:rPr lang="en-IN" sz="2800" b="1" dirty="0"/>
              <a:t>Module 2: Quiz Management</a:t>
            </a:r>
          </a:p>
          <a:p>
            <a:r>
              <a:rPr lang="en-US" sz="2800" dirty="0"/>
              <a:t>Allows admin to create, update, and delete events and manage event details.</a:t>
            </a:r>
            <a:endParaRPr lang="en-IN" sz="2800" dirty="0"/>
          </a:p>
          <a:p>
            <a:endParaRPr lang="en-IN" sz="2800" dirty="0"/>
          </a:p>
          <a:p>
            <a:r>
              <a:rPr lang="en-IN" sz="2800" b="1" dirty="0"/>
              <a:t>Module 3: Ticket Booking</a:t>
            </a:r>
          </a:p>
          <a:p>
            <a:r>
              <a:rPr lang="en-US" sz="2800" dirty="0"/>
              <a:t>Enables users to view events, select tickets, and complete the booking process.</a:t>
            </a:r>
            <a:endParaRPr lang="en-IN" sz="2800" dirty="0"/>
          </a:p>
          <a:p>
            <a:endParaRPr lang="en-IN" sz="2800" dirty="0"/>
          </a:p>
          <a:p>
            <a:r>
              <a:rPr lang="en-IN" sz="2800" b="1" dirty="0"/>
              <a:t>Module 4: Booking Confirmation</a:t>
            </a:r>
          </a:p>
          <a:p>
            <a:r>
              <a:rPr lang="en-US" sz="2800" dirty="0"/>
              <a:t>Generates booking confirmation and allows users to download or receive tickets.</a:t>
            </a:r>
            <a:endParaRPr lang="en-IN" sz="2800" dirty="0"/>
          </a:p>
          <a:p>
            <a:endParaRPr lang="en-IN" sz="2800" dirty="0"/>
          </a:p>
          <a:p>
            <a:endParaRPr lang="en-IN" sz="2800" dirty="0"/>
          </a:p>
          <a:p>
            <a:endParaRPr lang="en-IN" sz="2800" dirty="0"/>
          </a:p>
          <a:p>
            <a:endParaRPr lang="en-IN" sz="2800" dirty="0"/>
          </a:p>
          <a:p>
            <a:endParaRPr lang="en-IN"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0F51F113-370D-4207-9446-C2331FD2F77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51886" y="2190338"/>
            <a:ext cx="12384228" cy="5906324"/>
          </a:xfrm>
          <a:prstGeom prst="rect">
            <a:avLst/>
          </a:prstGeom>
        </p:spPr>
      </p:pic>
    </p:spTree>
    <p:extLst>
      <p:ext uri="{BB962C8B-B14F-4D97-AF65-F5344CB8AC3E}">
        <p14:creationId xmlns:p14="http://schemas.microsoft.com/office/powerpoint/2010/main" val="1998101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B814A5FC-F17C-8D1A-04C8-1ED6A2AE0E6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EC6A4DA-6D4B-3E6A-CF92-E543DD7AFBF5}"/>
              </a:ext>
            </a:extLst>
          </p:cNvPr>
          <p:cNvSpPr txBox="1"/>
          <p:nvPr/>
        </p:nvSpPr>
        <p:spPr>
          <a:xfrm>
            <a:off x="2209800" y="1638300"/>
            <a:ext cx="15082325" cy="6124754"/>
          </a:xfrm>
          <a:prstGeom prst="rect">
            <a:avLst/>
          </a:prstGeom>
          <a:noFill/>
        </p:spPr>
        <p:txBody>
          <a:bodyPr wrap="square" rtlCol="0">
            <a:spAutoFit/>
          </a:bodyPr>
          <a:lstStyle/>
          <a:p>
            <a:endParaRPr lang="en-US" sz="2800" dirty="0">
              <a:solidFill>
                <a:srgbClr val="0033CC"/>
              </a:solidFill>
            </a:endParaRPr>
          </a:p>
          <a:p>
            <a:endParaRPr lang="en-US" sz="2800" dirty="0">
              <a:solidFill>
                <a:srgbClr val="0033CC"/>
              </a:solidFill>
            </a:endParaRP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8" name="Picture 37">
            <a:extLst>
              <a:ext uri="{FF2B5EF4-FFF2-40B4-BE49-F238E27FC236}">
                <a16:creationId xmlns:a16="http://schemas.microsoft.com/office/drawing/2014/main" id="{AB15CDFA-9500-66D6-4E4D-654C7CF3BF09}"/>
              </a:ext>
            </a:extLst>
          </p:cNvPr>
          <p:cNvPicPr>
            <a:picLocks noChangeAspect="1"/>
          </p:cNvPicPr>
          <p:nvPr/>
        </p:nvPicPr>
        <p:blipFill>
          <a:blip r:embed="rId4"/>
          <a:stretch>
            <a:fillRect/>
          </a:stretch>
        </p:blipFill>
        <p:spPr>
          <a:xfrm>
            <a:off x="1920008" y="2393156"/>
            <a:ext cx="7073927" cy="6255544"/>
          </a:xfrm>
          <a:prstGeom prst="rect">
            <a:avLst/>
          </a:prstGeom>
        </p:spPr>
      </p:pic>
      <p:pic>
        <p:nvPicPr>
          <p:cNvPr id="40" name="Picture 39">
            <a:extLst>
              <a:ext uri="{FF2B5EF4-FFF2-40B4-BE49-F238E27FC236}">
                <a16:creationId xmlns:a16="http://schemas.microsoft.com/office/drawing/2014/main" id="{47157930-582B-769A-8109-06C2C6313A8C}"/>
              </a:ext>
            </a:extLst>
          </p:cNvPr>
          <p:cNvPicPr>
            <a:picLocks noChangeAspect="1"/>
          </p:cNvPicPr>
          <p:nvPr/>
        </p:nvPicPr>
        <p:blipFill>
          <a:blip r:embed="rId5"/>
          <a:stretch>
            <a:fillRect/>
          </a:stretch>
        </p:blipFill>
        <p:spPr>
          <a:xfrm>
            <a:off x="9283727" y="2393156"/>
            <a:ext cx="6627064" cy="6255544"/>
          </a:xfrm>
          <a:prstGeom prst="rect">
            <a:avLst/>
          </a:prstGeom>
        </p:spPr>
      </p:pic>
    </p:spTree>
    <p:extLst>
      <p:ext uri="{BB962C8B-B14F-4D97-AF65-F5344CB8AC3E}">
        <p14:creationId xmlns:p14="http://schemas.microsoft.com/office/powerpoint/2010/main" val="28115139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F4F051-5473-4E78-FEB2-59A87A5FBB9B}"/>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66BE183E-F015-FFD4-5C84-C25B4DCE490A}"/>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3AEC1772-D597-ACC7-7EF1-FF0460F37AA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46839344-8B05-5C56-F0B1-64E24F458991}"/>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8(B)</a:t>
              </a:r>
            </a:p>
          </p:txBody>
        </p:sp>
      </p:grpSp>
      <p:grpSp>
        <p:nvGrpSpPr>
          <p:cNvPr id="10" name="Group 10">
            <a:extLst>
              <a:ext uri="{FF2B5EF4-FFF2-40B4-BE49-F238E27FC236}">
                <a16:creationId xmlns:a16="http://schemas.microsoft.com/office/drawing/2014/main" id="{23B54700-9ABF-8EDD-8B21-24A9248C534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B99246F8-F6B5-2F2E-2FB4-FAE1DD41DCC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B7CDDD7B-8A9B-223F-951A-473D0C9404F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B3E1A8FC-D0F1-BD05-9C14-C10EAE95E57E}"/>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CEB5FB4E-3BF3-BC6A-6692-FE375141E45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38F8F103-F0A5-8F95-A139-8DBEBEF19C2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8C558648-2D59-16EB-3098-EAF5DE978B1F}"/>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B168779D-5467-4E78-AD1E-36B5A75A347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8AFC0BB4-20A4-849D-A1E4-FA90A8DDCC7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700D33AC-D53D-0E96-8752-E5DA06AE57A5}"/>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14DABAFB-38B3-CE49-B21D-A496D7EC2A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BE27A610-3BC0-BFBC-2A61-4C157B024EF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6C0E28B4-531C-D2E1-F3C9-B5A98A28B69D}"/>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C193347-3923-7F1F-A580-A7462B158EC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C5DDC20D-7BD0-E255-26F1-86A88AF67CF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9DBB21A1-CAFF-686E-D181-980219283F79}"/>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5531A9C5-B561-53EA-BF9A-3BE6A607C1B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D8870C21-3327-4D63-FD34-36BC479967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4D7C3EBE-FA20-7E4C-13DD-84F1A98618F6}"/>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C1E3AE62-1B2B-FE1E-010C-A26C4F613A6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CDA04BD5-C99C-980C-6593-EDEA378D6C3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77207A6-9552-432B-0793-EB6A88EE3C1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7447A1E-BA0C-26C0-C743-E590A55A653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8D425BCC-6A0F-30CB-18E7-D1E21E871D9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35F87FC1-4854-F9D4-8104-40945AD6A772}"/>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C7CF20EF-980A-2D88-E968-DCB5B8BC6CF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A7A686B7-4E4C-A5FA-60CD-A6EFF9DEAD8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3ECD8D52-6368-578C-BEB2-0B1BA37FD45D}"/>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638323CF-7DCB-075F-B739-0F88472F060D}"/>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6C0EA81E-D408-1A06-6895-1BF3CA09E497}"/>
              </a:ext>
            </a:extLst>
          </p:cNvPr>
          <p:cNvSpPr txBox="1"/>
          <p:nvPr/>
        </p:nvSpPr>
        <p:spPr>
          <a:xfrm>
            <a:off x="2209800" y="1638300"/>
            <a:ext cx="15082325" cy="4832092"/>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 name="Picture 3">
            <a:extLst>
              <a:ext uri="{FF2B5EF4-FFF2-40B4-BE49-F238E27FC236}">
                <a16:creationId xmlns:a16="http://schemas.microsoft.com/office/drawing/2014/main" id="{720B9E03-B9D3-3829-8F7D-B5EB087CACF3}"/>
              </a:ext>
            </a:extLst>
          </p:cNvPr>
          <p:cNvPicPr>
            <a:picLocks noChangeAspect="1"/>
          </p:cNvPicPr>
          <p:nvPr/>
        </p:nvPicPr>
        <p:blipFill>
          <a:blip r:embed="rId4"/>
          <a:stretch>
            <a:fillRect/>
          </a:stretch>
        </p:blipFill>
        <p:spPr>
          <a:xfrm>
            <a:off x="2116755" y="1695376"/>
            <a:ext cx="6896287" cy="7562924"/>
          </a:xfrm>
          <a:prstGeom prst="rect">
            <a:avLst/>
          </a:prstGeom>
        </p:spPr>
      </p:pic>
      <p:pic>
        <p:nvPicPr>
          <p:cNvPr id="6" name="Picture 5">
            <a:extLst>
              <a:ext uri="{FF2B5EF4-FFF2-40B4-BE49-F238E27FC236}">
                <a16:creationId xmlns:a16="http://schemas.microsoft.com/office/drawing/2014/main" id="{6F7F108C-9410-744E-0186-4718A588337C}"/>
              </a:ext>
            </a:extLst>
          </p:cNvPr>
          <p:cNvPicPr>
            <a:picLocks noChangeAspect="1"/>
          </p:cNvPicPr>
          <p:nvPr/>
        </p:nvPicPr>
        <p:blipFill>
          <a:blip r:embed="rId5"/>
          <a:stretch>
            <a:fillRect/>
          </a:stretch>
        </p:blipFill>
        <p:spPr>
          <a:xfrm>
            <a:off x="9848521" y="1695377"/>
            <a:ext cx="6464899" cy="7562924"/>
          </a:xfrm>
          <a:prstGeom prst="rect">
            <a:avLst/>
          </a:prstGeom>
        </p:spPr>
      </p:pic>
    </p:spTree>
    <p:extLst>
      <p:ext uri="{BB962C8B-B14F-4D97-AF65-F5344CB8AC3E}">
        <p14:creationId xmlns:p14="http://schemas.microsoft.com/office/powerpoint/2010/main" val="47544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52AA6E-1A8C-A42D-344E-C811AB58A618}"/>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EB7F1E1F-336A-607D-2868-6C57FF54EB44}"/>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63528BA9-EE0E-A6F8-4A8C-6DFC964B206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6E25C449-B344-E643-12F7-C89DEE4255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4C22D2BC-F5CA-423B-6FD6-94172693045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F6670B32-1168-757A-3D40-FDD55687DCF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0D3BB7FD-57C6-C09A-D875-135D505A8E1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067A86AC-A2D1-3F33-5857-9F69983F71BB}"/>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D9EADC3C-D136-0700-9300-4D8E867EC53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8EAD5F3-3FC4-819A-6ECD-0BC55C92A2B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1671F77B-B3A5-F8B6-AC67-6EF88CA95877}"/>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1303025A-EF3E-710E-2DBD-D89F29B8499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76E7D281-CC96-92C2-C2F7-583674F0609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E0D02FED-C5F4-9CC7-F1F5-E75E542840A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384D1E33-434F-2FA0-56CC-F24058D8639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F2FC0DCA-FB2A-610C-A8DB-76CE251A57D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4CA1DB61-05A2-042F-9815-00DBC40D0556}"/>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7E4E958-360B-28EF-052B-EDDBDD5F40F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BEDBF5CC-2720-E821-001C-11BCB7273E2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6B96629A-6996-B0D7-13D6-0FA011422666}"/>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912F1ED8-E3AD-E90A-10CE-D50A8F7D91A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0E45F23-6E8F-F601-2EB3-537A898E704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A40D6715-3580-0B1B-2305-C7ED6083AE85}"/>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11A59530-4B7F-6C6B-290E-578EA30200D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9BDCE736-251A-5B70-853E-A0A9A174F36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8249BDCF-E07B-269B-D039-A4360C0FE2B4}"/>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6F6B04FD-3FAC-90A2-4C1A-D809D058C0A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BEE5C092-697C-26F6-D6E0-477F151E7CA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FF80FEAE-01A3-1956-FB30-BED14CA86273}"/>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2E8D2AB5-8B00-D9B4-469D-07CAE4ECF9C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F9F17E25-114F-438B-701A-7788D333F33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1C4B6667-B2EE-BA32-402F-04368D88D5C4}"/>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B953180-DB27-F046-86E3-E3508247B406}"/>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341A1FDE-E3AB-682A-64B7-DA145F23EB91}"/>
              </a:ext>
            </a:extLst>
          </p:cNvPr>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5" name="Picture 4">
            <a:extLst>
              <a:ext uri="{FF2B5EF4-FFF2-40B4-BE49-F238E27FC236}">
                <a16:creationId xmlns:a16="http://schemas.microsoft.com/office/drawing/2014/main" id="{7A2807F6-2922-4EA4-E5CF-5B1AE359B33C}"/>
              </a:ext>
            </a:extLst>
          </p:cNvPr>
          <p:cNvPicPr>
            <a:picLocks noChangeAspect="1"/>
          </p:cNvPicPr>
          <p:nvPr/>
        </p:nvPicPr>
        <p:blipFill>
          <a:blip r:embed="rId4"/>
          <a:stretch>
            <a:fillRect/>
          </a:stretch>
        </p:blipFill>
        <p:spPr>
          <a:xfrm>
            <a:off x="9546183" y="1928711"/>
            <a:ext cx="8261306" cy="6359781"/>
          </a:xfrm>
          <a:prstGeom prst="rect">
            <a:avLst/>
          </a:prstGeom>
        </p:spPr>
      </p:pic>
      <p:pic>
        <p:nvPicPr>
          <p:cNvPr id="3" name="Picture 2">
            <a:extLst>
              <a:ext uri="{FF2B5EF4-FFF2-40B4-BE49-F238E27FC236}">
                <a16:creationId xmlns:a16="http://schemas.microsoft.com/office/drawing/2014/main" id="{E1C03FF0-DE32-7E9B-D753-31C86532516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843783" y="1928711"/>
            <a:ext cx="5715000" cy="6359782"/>
          </a:xfrm>
          <a:prstGeom prst="rect">
            <a:avLst/>
          </a:prstGeom>
        </p:spPr>
      </p:pic>
    </p:spTree>
    <p:extLst>
      <p:ext uri="{BB962C8B-B14F-4D97-AF65-F5344CB8AC3E}">
        <p14:creationId xmlns:p14="http://schemas.microsoft.com/office/powerpoint/2010/main" val="848899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4" name="Group 44">
            <a:extLst>
              <a:ext uri="{FF2B5EF4-FFF2-40B4-BE49-F238E27FC236}">
                <a16:creationId xmlns:a16="http://schemas.microsoft.com/office/drawing/2014/main" id="{FBD0A79F-CA0B-2560-37ED-E07624B11027}"/>
              </a:ext>
            </a:extLst>
          </p:cNvPr>
          <p:cNvGrpSpPr/>
          <p:nvPr/>
        </p:nvGrpSpPr>
        <p:grpSpPr>
          <a:xfrm>
            <a:off x="16786360" y="-353712"/>
            <a:ext cx="10994424" cy="10994424"/>
            <a:chOff x="0" y="0"/>
            <a:chExt cx="812800" cy="812800"/>
          </a:xfrm>
        </p:grpSpPr>
        <p:sp>
          <p:nvSpPr>
            <p:cNvPr id="45" name="Freeform 45">
              <a:extLst>
                <a:ext uri="{FF2B5EF4-FFF2-40B4-BE49-F238E27FC236}">
                  <a16:creationId xmlns:a16="http://schemas.microsoft.com/office/drawing/2014/main"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a:extLst>
                <a:ext uri="{FF2B5EF4-FFF2-40B4-BE49-F238E27FC236}">
                  <a16:creationId xmlns:a16="http://schemas.microsoft.com/office/drawing/2014/main"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BC926643-39EA-932E-6755-230476B3078D}"/>
              </a:ext>
            </a:extLst>
          </p:cNvPr>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C9F67AE5-ECE1-F1EA-A904-8B0B018D3538}"/>
              </a:ext>
            </a:extLst>
          </p:cNvPr>
          <p:cNvSpPr txBox="1"/>
          <p:nvPr/>
        </p:nvSpPr>
        <p:spPr>
          <a:xfrm>
            <a:off x="2209801" y="1638301"/>
            <a:ext cx="14576560" cy="8279190"/>
          </a:xfrm>
          <a:prstGeom prst="rect">
            <a:avLst/>
          </a:prstGeom>
          <a:noFill/>
          <a:ln>
            <a:noFill/>
          </a:ln>
        </p:spPr>
        <p:txBody>
          <a:bodyPr wrap="square" rtlCol="0">
            <a:spAutoFit/>
          </a:bodyPr>
          <a:lstStyle/>
          <a:p>
            <a:pPr marL="457200" indent="-457200">
              <a:buFontTx/>
              <a:buChar char="-"/>
            </a:pPr>
            <a:endParaRPr lang="en-US" sz="2800" dirty="0"/>
          </a:p>
          <a:p>
            <a:r>
              <a:rPr lang="en-US" sz="2800" b="1" dirty="0">
                <a:solidFill>
                  <a:srgbClr val="0033CC"/>
                </a:solidFill>
              </a:rPr>
              <a:t>Advantages:</a:t>
            </a:r>
          </a:p>
          <a:p>
            <a:endParaRPr lang="en-US" sz="2800" dirty="0"/>
          </a:p>
          <a:p>
            <a:r>
              <a:rPr lang="en-US" sz="2800" dirty="0"/>
              <a:t>1.Time saving and Fully Automated.</a:t>
            </a:r>
          </a:p>
          <a:p>
            <a:r>
              <a:rPr lang="en-US" sz="2800" dirty="0"/>
              <a:t>2. Real-time ticket availability and instant confirmation.</a:t>
            </a:r>
          </a:p>
          <a:p>
            <a:r>
              <a:rPr lang="en-US" sz="2800" dirty="0"/>
              <a:t>3. Easy access and user-friendly interface.</a:t>
            </a:r>
          </a:p>
          <a:p>
            <a:pPr marL="457200" indent="-457200">
              <a:buFontTx/>
              <a:buChar char="-"/>
            </a:pPr>
            <a:endParaRPr lang="en-US" sz="2800" dirty="0"/>
          </a:p>
          <a:p>
            <a:r>
              <a:rPr lang="en-US" sz="2800" b="1" dirty="0">
                <a:solidFill>
                  <a:srgbClr val="0033CC"/>
                </a:solidFill>
              </a:rPr>
              <a:t>Limitations:</a:t>
            </a:r>
          </a:p>
          <a:p>
            <a:r>
              <a:rPr lang="en-US" sz="2800" b="1" dirty="0"/>
              <a:t> </a:t>
            </a:r>
          </a:p>
          <a:p>
            <a:r>
              <a:rPr lang="en-US" sz="2800" dirty="0"/>
              <a:t>1. Initial setup and development complexity.</a:t>
            </a:r>
          </a:p>
          <a:p>
            <a:r>
              <a:rPr lang="en-US" sz="2800" dirty="0"/>
              <a:t>2.Internet Dependency(Stable Internet connection is Required).</a:t>
            </a:r>
          </a:p>
          <a:p>
            <a:r>
              <a:rPr lang="en-US" sz="2800" dirty="0"/>
              <a:t>3.Security and Malpractice Issues.</a:t>
            </a:r>
          </a:p>
          <a:p>
            <a:r>
              <a:rPr lang="en-US" sz="2800" dirty="0"/>
              <a:t>4. Depends on system/server availability.</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extLst>
      <p:ext uri="{BB962C8B-B14F-4D97-AF65-F5344CB8AC3E}">
        <p14:creationId xmlns:p14="http://schemas.microsoft.com/office/powerpoint/2010/main" val="26876156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657</TotalTime>
  <Words>772</Words>
  <Application>Microsoft Office PowerPoint</Application>
  <PresentationFormat>Custom</PresentationFormat>
  <Paragraphs>329</Paragraphs>
  <Slides>15</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Calibri</vt:lpstr>
      <vt:lpstr>Arial</vt:lpstr>
      <vt:lpstr>Gotham</vt:lpstr>
      <vt:lpstr>Cambria</vt:lpstr>
      <vt:lpstr>Wingdings</vt:lpstr>
      <vt:lpstr>Bookman Old Style</vt:lpstr>
      <vt:lpstr>Times New Roman</vt:lpstr>
      <vt:lpstr>Gotham Bold Italics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Bhargav</dc:creator>
  <cp:lastModifiedBy>abhiramchowdary0722@gmail.com</cp:lastModifiedBy>
  <cp:revision>28</cp:revision>
  <dcterms:created xsi:type="dcterms:W3CDTF">2006-08-16T00:00:00Z</dcterms:created>
  <dcterms:modified xsi:type="dcterms:W3CDTF">2026-05-04T18:13:17Z</dcterms:modified>
  <dc:identifier>DAHCaYqJ9OU</dc:identifier>
</cp:coreProperties>
</file>